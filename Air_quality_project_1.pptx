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71" r:id="rId6"/>
    <p:sldId id="260" r:id="rId7"/>
    <p:sldId id="261" r:id="rId8"/>
    <p:sldId id="262" r:id="rId9"/>
    <p:sldId id="269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Canva Sans Bold" panose="020B0604020202020204" charset="0"/>
      <p:regular r:id="rId16"/>
    </p:embeddedFont>
    <p:embeddedFont>
      <p:font typeface="Fredoka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66935">
            <a:off x="13688088" y="2136407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6404" y="2414227"/>
            <a:ext cx="11163300" cy="272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13"/>
              </a:lnSpc>
              <a:spcBef>
                <a:spcPct val="0"/>
              </a:spcBef>
            </a:pPr>
            <a:r>
              <a:rPr lang="en-US" sz="7937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Egyptian Air Quality </a:t>
            </a:r>
            <a:endParaRPr lang="ar-EG" sz="7937" dirty="0">
              <a:solidFill>
                <a:srgbClr val="5C588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1113"/>
              </a:lnSpc>
              <a:spcBef>
                <a:spcPct val="0"/>
              </a:spcBef>
            </a:pPr>
            <a:r>
              <a:rPr lang="en-US" sz="7937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Monitoring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145818"/>
            <a:ext cx="15881087" cy="155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1"/>
              </a:lnSpc>
            </a:pPr>
            <a:r>
              <a:rPr lang="en-US" sz="4458" b="1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Alaa Osama Mohamed &amp; Batool Ayman Mohamed</a:t>
            </a:r>
          </a:p>
          <a:p>
            <a:pPr algn="l">
              <a:lnSpc>
                <a:spcPts val="6241"/>
              </a:lnSpc>
              <a:spcBef>
                <a:spcPct val="0"/>
              </a:spcBef>
            </a:pPr>
            <a:endParaRPr lang="en-US" sz="4458" b="1">
              <a:solidFill>
                <a:srgbClr val="54AF9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133" y="923925"/>
            <a:ext cx="15149734" cy="96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77"/>
              </a:lnSpc>
              <a:spcBef>
                <a:spcPct val="0"/>
              </a:spcBef>
            </a:pPr>
            <a:r>
              <a:rPr lang="en-US" sz="5627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Project Idea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84550" y="2144456"/>
            <a:ext cx="14146335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/>
              <a:t>The Egyptian Air Quality project aims to monitor and analyze air pollution levels across different regions in Egypt using real datasets.</a:t>
            </a:r>
          </a:p>
          <a:p>
            <a:r>
              <a:rPr lang="en-US" sz="3600" dirty="0"/>
              <a:t>We collect, process, and visualize air quality data to support awareness and data-driven decision making.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566935">
            <a:off x="13806981" y="1827285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57326D6C-B0AC-ECB4-6C09-FAFE1FA35BED}"/>
              </a:ext>
            </a:extLst>
          </p:cNvPr>
          <p:cNvSpPr txBox="1"/>
          <p:nvPr/>
        </p:nvSpPr>
        <p:spPr>
          <a:xfrm>
            <a:off x="6407833" y="4809801"/>
            <a:ext cx="5472334" cy="879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77"/>
              </a:lnSpc>
              <a:spcBef>
                <a:spcPct val="0"/>
              </a:spcBef>
            </a:pPr>
            <a:r>
              <a:rPr lang="en-US" sz="3600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Main goal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19D40EE-269E-DADC-EAF5-19EEA0D57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6910" y="6139011"/>
            <a:ext cx="113506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/>
              <a:t>Transform raw environmental data into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133" y="923925"/>
            <a:ext cx="15149734" cy="96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77"/>
              </a:lnSpc>
              <a:spcBef>
                <a:spcPct val="0"/>
              </a:spcBef>
            </a:pPr>
            <a:r>
              <a:rPr lang="en-US" sz="5627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5479" y="2066724"/>
            <a:ext cx="15060981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Egypt is facing increasing air pollution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Urbanization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Traffic emissions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Industrial activities</a:t>
            </a:r>
          </a:p>
          <a:p>
            <a:pPr algn="ctr"/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Challenges:</a:t>
            </a:r>
            <a:endParaRPr lang="ar-EG" sz="3600" b="1" dirty="0">
              <a:solidFill>
                <a:schemeClr val="accent4">
                  <a:lumMod val="50000"/>
                </a:schemeClr>
              </a:solidFill>
            </a:endParaRPr>
          </a:p>
          <a:p>
            <a:pPr algn="ctr"/>
            <a:endParaRPr lang="en-US" sz="36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No unified and easy-to-use air quality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The data is scattered across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Hard for people to understand raw environmental data</a:t>
            </a:r>
          </a:p>
          <a:p>
            <a:pPr algn="ctr"/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So… we needed a centralized and visual solution.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566935">
            <a:off x="13806981" y="1827285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7134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583864" y="1673329"/>
            <a:ext cx="15120269" cy="8350614"/>
          </a:xfrm>
          <a:custGeom>
            <a:avLst/>
            <a:gdLst/>
            <a:ahLst/>
            <a:cxnLst/>
            <a:rect l="l" t="t" r="r" b="b"/>
            <a:pathLst>
              <a:path w="12709502" h="7101434">
                <a:moveTo>
                  <a:pt x="0" y="0"/>
                </a:moveTo>
                <a:lnTo>
                  <a:pt x="12709502" y="0"/>
                </a:lnTo>
                <a:lnTo>
                  <a:pt x="12709502" y="7101434"/>
                </a:lnTo>
                <a:lnTo>
                  <a:pt x="0" y="710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19865" y="286409"/>
            <a:ext cx="14648269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133" y="923925"/>
            <a:ext cx="15149734" cy="96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77"/>
              </a:lnSpc>
              <a:spcBef>
                <a:spcPct val="0"/>
              </a:spcBef>
            </a:pPr>
            <a:r>
              <a:rPr lang="en-US" sz="5627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Challenges We Faced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7227" y="2249722"/>
            <a:ext cx="15060981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/>
              <a:t>Main challenges during the project: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Different data formats between APIs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Missing values and duplicates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Large data volume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Manual data collection took too much time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Transforming complex data into readable insights</a:t>
            </a:r>
            <a:endParaRPr lang="ar-EG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We needed an automated data pipeline.</a:t>
            </a:r>
          </a:p>
          <a:p>
            <a:endParaRPr lang="ar-EG" sz="3600" dirty="0"/>
          </a:p>
          <a:p>
            <a:pPr lvl="1">
              <a:buFont typeface="+mj-lt"/>
              <a:buAutoNum type="arabicPeriod"/>
            </a:pPr>
            <a:endParaRPr lang="en-US" sz="3600" dirty="0"/>
          </a:p>
        </p:txBody>
      </p:sp>
      <p:grpSp>
        <p:nvGrpSpPr>
          <p:cNvPr id="4" name="Group 4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566935">
            <a:off x="13806981" y="1827285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495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4900271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Snowflake Data Warehouse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566935">
            <a:off x="13222800" y="1517146"/>
            <a:ext cx="8073000" cy="4855849"/>
          </a:xfrm>
          <a:custGeom>
            <a:avLst/>
            <a:gdLst/>
            <a:ahLst/>
            <a:cxnLst/>
            <a:rect l="l" t="t" r="r" b="b"/>
            <a:pathLst>
              <a:path w="8073000" h="4855849">
                <a:moveTo>
                  <a:pt x="0" y="0"/>
                </a:moveTo>
                <a:lnTo>
                  <a:pt x="8073000" y="0"/>
                </a:lnTo>
                <a:lnTo>
                  <a:pt x="8073000" y="4855849"/>
                </a:lnTo>
                <a:lnTo>
                  <a:pt x="0" y="485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819" y="2657685"/>
            <a:ext cx="5462084" cy="2667949"/>
          </a:xfrm>
          <a:custGeom>
            <a:avLst/>
            <a:gdLst/>
            <a:ahLst/>
            <a:cxnLst/>
            <a:rect l="l" t="t" r="r" b="b"/>
            <a:pathLst>
              <a:path w="5462084" h="2667949">
                <a:moveTo>
                  <a:pt x="0" y="0"/>
                </a:moveTo>
                <a:lnTo>
                  <a:pt x="5462084" y="0"/>
                </a:lnTo>
                <a:lnTo>
                  <a:pt x="5462084" y="2667948"/>
                </a:lnTo>
                <a:lnTo>
                  <a:pt x="0" y="2667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942373" y="3901846"/>
            <a:ext cx="4410644" cy="2847574"/>
          </a:xfrm>
          <a:custGeom>
            <a:avLst/>
            <a:gdLst/>
            <a:ahLst/>
            <a:cxnLst/>
            <a:rect l="l" t="t" r="r" b="b"/>
            <a:pathLst>
              <a:path w="4410644" h="2847574">
                <a:moveTo>
                  <a:pt x="0" y="0"/>
                </a:moveTo>
                <a:lnTo>
                  <a:pt x="4410644" y="0"/>
                </a:lnTo>
                <a:lnTo>
                  <a:pt x="4410644" y="2847574"/>
                </a:lnTo>
                <a:lnTo>
                  <a:pt x="0" y="2847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52755" y="3289286"/>
            <a:ext cx="4539243" cy="3708427"/>
          </a:xfrm>
          <a:custGeom>
            <a:avLst/>
            <a:gdLst/>
            <a:ahLst/>
            <a:cxnLst/>
            <a:rect l="l" t="t" r="r" b="b"/>
            <a:pathLst>
              <a:path w="4539243" h="3708427">
                <a:moveTo>
                  <a:pt x="0" y="0"/>
                </a:moveTo>
                <a:lnTo>
                  <a:pt x="4539243" y="0"/>
                </a:lnTo>
                <a:lnTo>
                  <a:pt x="4539243" y="3708428"/>
                </a:lnTo>
                <a:lnTo>
                  <a:pt x="0" y="3708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561" r="-1470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2213" y="5754258"/>
            <a:ext cx="4700160" cy="2065222"/>
          </a:xfrm>
          <a:custGeom>
            <a:avLst/>
            <a:gdLst/>
            <a:ahLst/>
            <a:cxnLst/>
            <a:rect l="l" t="t" r="r" b="b"/>
            <a:pathLst>
              <a:path w="4700160" h="2065222">
                <a:moveTo>
                  <a:pt x="0" y="0"/>
                </a:moveTo>
                <a:lnTo>
                  <a:pt x="4700160" y="0"/>
                </a:lnTo>
                <a:lnTo>
                  <a:pt x="4700160" y="2065222"/>
                </a:lnTo>
                <a:lnTo>
                  <a:pt x="0" y="20652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5934" y="721044"/>
            <a:ext cx="15316185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DBT Transformations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566935">
            <a:off x="13222800" y="1517146"/>
            <a:ext cx="8073000" cy="4855849"/>
          </a:xfrm>
          <a:custGeom>
            <a:avLst/>
            <a:gdLst/>
            <a:ahLst/>
            <a:cxnLst/>
            <a:rect l="l" t="t" r="r" b="b"/>
            <a:pathLst>
              <a:path w="8073000" h="4855849">
                <a:moveTo>
                  <a:pt x="0" y="0"/>
                </a:moveTo>
                <a:lnTo>
                  <a:pt x="8073000" y="0"/>
                </a:lnTo>
                <a:lnTo>
                  <a:pt x="8073000" y="4855849"/>
                </a:lnTo>
                <a:lnTo>
                  <a:pt x="0" y="485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05934" y="2358025"/>
            <a:ext cx="12332369" cy="5703721"/>
          </a:xfrm>
          <a:custGeom>
            <a:avLst/>
            <a:gdLst/>
            <a:ahLst/>
            <a:cxnLst/>
            <a:rect l="l" t="t" r="r" b="b"/>
            <a:pathLst>
              <a:path w="12332369" h="5703721">
                <a:moveTo>
                  <a:pt x="0" y="0"/>
                </a:moveTo>
                <a:lnTo>
                  <a:pt x="12332369" y="0"/>
                </a:lnTo>
                <a:lnTo>
                  <a:pt x="12332369" y="5703721"/>
                </a:lnTo>
                <a:lnTo>
                  <a:pt x="0" y="570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22760" y="614581"/>
            <a:ext cx="14103474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Airflow Orchestration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3F3B65E-C35A-BB75-30B9-E0E158F9A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47" y="2933700"/>
            <a:ext cx="16337506" cy="36110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630918">
            <a:off x="849457" y="5560842"/>
            <a:ext cx="2707758" cy="3479596"/>
          </a:xfrm>
          <a:custGeom>
            <a:avLst/>
            <a:gdLst/>
            <a:ahLst/>
            <a:cxnLst/>
            <a:rect l="l" t="t" r="r" b="b"/>
            <a:pathLst>
              <a:path w="2707758" h="3479596">
                <a:moveTo>
                  <a:pt x="0" y="0"/>
                </a:moveTo>
                <a:lnTo>
                  <a:pt x="2707758" y="0"/>
                </a:lnTo>
                <a:lnTo>
                  <a:pt x="2707758" y="3479595"/>
                </a:lnTo>
                <a:lnTo>
                  <a:pt x="0" y="3479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176867" y="2427147"/>
            <a:ext cx="11346023" cy="6467233"/>
          </a:xfrm>
          <a:custGeom>
            <a:avLst/>
            <a:gdLst/>
            <a:ahLst/>
            <a:cxnLst/>
            <a:rect l="l" t="t" r="r" b="b"/>
            <a:pathLst>
              <a:path w="11346023" h="6467233">
                <a:moveTo>
                  <a:pt x="0" y="0"/>
                </a:moveTo>
                <a:lnTo>
                  <a:pt x="11346023" y="0"/>
                </a:lnTo>
                <a:lnTo>
                  <a:pt x="11346023" y="6467233"/>
                </a:lnTo>
                <a:lnTo>
                  <a:pt x="0" y="646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46749" y="988429"/>
            <a:ext cx="15394502" cy="106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4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Power BI Dashboards: Modeling</a:t>
            </a:r>
          </a:p>
        </p:txBody>
      </p:sp>
    </p:spTree>
    <p:extLst>
      <p:ext uri="{BB962C8B-B14F-4D97-AF65-F5344CB8AC3E}">
        <p14:creationId xmlns:p14="http://schemas.microsoft.com/office/powerpoint/2010/main" val="40430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630918">
            <a:off x="863371" y="5712047"/>
            <a:ext cx="2597026" cy="3337300"/>
          </a:xfrm>
          <a:custGeom>
            <a:avLst/>
            <a:gdLst/>
            <a:ahLst/>
            <a:cxnLst/>
            <a:rect l="l" t="t" r="r" b="b"/>
            <a:pathLst>
              <a:path w="2597026" h="3337300">
                <a:moveTo>
                  <a:pt x="0" y="0"/>
                </a:moveTo>
                <a:lnTo>
                  <a:pt x="2597026" y="0"/>
                </a:lnTo>
                <a:lnTo>
                  <a:pt x="2597026" y="3337300"/>
                </a:lnTo>
                <a:lnTo>
                  <a:pt x="0" y="333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40531" y="2313287"/>
            <a:ext cx="12047642" cy="6686126"/>
          </a:xfrm>
          <a:custGeom>
            <a:avLst/>
            <a:gdLst/>
            <a:ahLst/>
            <a:cxnLst/>
            <a:rect l="l" t="t" r="r" b="b"/>
            <a:pathLst>
              <a:path w="12047642" h="6686126">
                <a:moveTo>
                  <a:pt x="0" y="0"/>
                </a:moveTo>
                <a:lnTo>
                  <a:pt x="12047642" y="0"/>
                </a:lnTo>
                <a:lnTo>
                  <a:pt x="12047642" y="6686126"/>
                </a:lnTo>
                <a:lnTo>
                  <a:pt x="0" y="6686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988429"/>
            <a:ext cx="17071304" cy="106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4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Power BI Dashboards: Onboarding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630918">
            <a:off x="863371" y="5712047"/>
            <a:ext cx="2597026" cy="3337300"/>
          </a:xfrm>
          <a:custGeom>
            <a:avLst/>
            <a:gdLst/>
            <a:ahLst/>
            <a:cxnLst/>
            <a:rect l="l" t="t" r="r" b="b"/>
            <a:pathLst>
              <a:path w="2597026" h="3337300">
                <a:moveTo>
                  <a:pt x="0" y="0"/>
                </a:moveTo>
                <a:lnTo>
                  <a:pt x="2597026" y="0"/>
                </a:lnTo>
                <a:lnTo>
                  <a:pt x="2597026" y="3337300"/>
                </a:lnTo>
                <a:lnTo>
                  <a:pt x="0" y="333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11617" y="2372028"/>
            <a:ext cx="11959403" cy="6715505"/>
          </a:xfrm>
          <a:custGeom>
            <a:avLst/>
            <a:gdLst/>
            <a:ahLst/>
            <a:cxnLst/>
            <a:rect l="l" t="t" r="r" b="b"/>
            <a:pathLst>
              <a:path w="11959403" h="6715505">
                <a:moveTo>
                  <a:pt x="0" y="0"/>
                </a:moveTo>
                <a:lnTo>
                  <a:pt x="11959403" y="0"/>
                </a:lnTo>
                <a:lnTo>
                  <a:pt x="11959403" y="6715506"/>
                </a:lnTo>
                <a:lnTo>
                  <a:pt x="0" y="671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988429"/>
            <a:ext cx="17071304" cy="106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4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Power BI Dashboards: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630918">
            <a:off x="863371" y="5712047"/>
            <a:ext cx="2597026" cy="3337300"/>
          </a:xfrm>
          <a:custGeom>
            <a:avLst/>
            <a:gdLst/>
            <a:ahLst/>
            <a:cxnLst/>
            <a:rect l="l" t="t" r="r" b="b"/>
            <a:pathLst>
              <a:path w="2597026" h="3337300">
                <a:moveTo>
                  <a:pt x="0" y="0"/>
                </a:moveTo>
                <a:lnTo>
                  <a:pt x="2597026" y="0"/>
                </a:lnTo>
                <a:lnTo>
                  <a:pt x="2597026" y="3337300"/>
                </a:lnTo>
                <a:lnTo>
                  <a:pt x="0" y="333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47320" y="2076352"/>
            <a:ext cx="12125392" cy="6853482"/>
          </a:xfrm>
          <a:custGeom>
            <a:avLst/>
            <a:gdLst/>
            <a:ahLst/>
            <a:cxnLst/>
            <a:rect l="l" t="t" r="r" b="b"/>
            <a:pathLst>
              <a:path w="12125392" h="6853482">
                <a:moveTo>
                  <a:pt x="0" y="0"/>
                </a:moveTo>
                <a:lnTo>
                  <a:pt x="12125392" y="0"/>
                </a:lnTo>
                <a:lnTo>
                  <a:pt x="12125392" y="6853482"/>
                </a:lnTo>
                <a:lnTo>
                  <a:pt x="0" y="685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6888" y="820113"/>
            <a:ext cx="17961112" cy="8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16"/>
              </a:lnSpc>
            </a:pPr>
            <a:r>
              <a:rPr lang="en-US" sz="632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Power BI Dashboards: Pollutants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630918">
            <a:off x="863371" y="5712047"/>
            <a:ext cx="2597026" cy="3337300"/>
          </a:xfrm>
          <a:custGeom>
            <a:avLst/>
            <a:gdLst/>
            <a:ahLst/>
            <a:cxnLst/>
            <a:rect l="l" t="t" r="r" b="b"/>
            <a:pathLst>
              <a:path w="2597026" h="3337300">
                <a:moveTo>
                  <a:pt x="0" y="0"/>
                </a:moveTo>
                <a:lnTo>
                  <a:pt x="2597026" y="0"/>
                </a:lnTo>
                <a:lnTo>
                  <a:pt x="2597026" y="3337300"/>
                </a:lnTo>
                <a:lnTo>
                  <a:pt x="0" y="333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08289" y="1949825"/>
            <a:ext cx="12382009" cy="6974268"/>
          </a:xfrm>
          <a:custGeom>
            <a:avLst/>
            <a:gdLst/>
            <a:ahLst/>
            <a:cxnLst/>
            <a:rect l="l" t="t" r="r" b="b"/>
            <a:pathLst>
              <a:path w="12382009" h="6974268">
                <a:moveTo>
                  <a:pt x="0" y="0"/>
                </a:moveTo>
                <a:lnTo>
                  <a:pt x="12382009" y="0"/>
                </a:lnTo>
                <a:lnTo>
                  <a:pt x="12382009" y="6974268"/>
                </a:lnTo>
                <a:lnTo>
                  <a:pt x="0" y="697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86233"/>
            <a:ext cx="17071304" cy="88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2"/>
              </a:lnSpc>
            </a:pPr>
            <a:r>
              <a:rPr lang="en-US" sz="652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Power BI Dashboards: Weather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4887" y="3471617"/>
            <a:ext cx="12893479" cy="212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97"/>
              </a:lnSpc>
            </a:pPr>
            <a:r>
              <a:rPr lang="en-US" sz="15325" u="none" strike="noStrik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Thanks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7060202">
            <a:off x="12724574" y="696952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189</Words>
  <Application>Microsoft Office PowerPoint</Application>
  <PresentationFormat>Custom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Canva Sans Bold</vt:lpstr>
      <vt:lpstr>Arial</vt:lpstr>
      <vt:lpstr>Calibri</vt:lpstr>
      <vt:lpstr>Fredoka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&amp; Redesign: Models and Testing Science Presentation in Blue Purple Illustrative Style</dc:title>
  <cp:lastModifiedBy>Alaa Osama Mohamed</cp:lastModifiedBy>
  <cp:revision>4</cp:revision>
  <dcterms:created xsi:type="dcterms:W3CDTF">2006-08-16T00:00:00Z</dcterms:created>
  <dcterms:modified xsi:type="dcterms:W3CDTF">2025-11-30T09:14:11Z</dcterms:modified>
  <dc:identifier>DAG6Bk4bL-o</dc:identifier>
</cp:coreProperties>
</file>